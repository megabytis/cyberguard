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G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5173" TargetMode="External"/><Relationship Id="rId2" Type="http://schemas.openxmlformats.org/officeDocument/2006/relationships/hyperlink" Target="http://localhost:5173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5173" TargetMode="External"/><Relationship Id="rId2" Type="http://schemas.openxmlformats.org/officeDocument/2006/relationships/hyperlink" Target="http://localhost:5173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9594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9594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9594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9594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9594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9594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9594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9594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9594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9594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9594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5944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95944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95944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95944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95944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95944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95944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95944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95944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95944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95944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95944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95944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95944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95944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5197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5197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5197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5197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5197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5197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5197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5197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5197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5197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5197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51976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51976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51976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51976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51976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51976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51976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51976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51976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51976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51976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51976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51976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51976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51976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0800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0800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0800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0800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0800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0800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0800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0800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0800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0800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0800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08008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08008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08008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08008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08008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08008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08008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08008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08008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208008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08008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08008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08008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08008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08008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46404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6404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6404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46404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46404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6404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6404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6404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6404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6404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46404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464040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64040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464040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64040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464040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64040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64040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64040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464040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64040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64040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4040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64040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464040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464040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720072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720072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720072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720072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720072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720072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720072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720072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720072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720072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720072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720072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20072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720072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0072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720072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720072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720072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720072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20072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720072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720072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720072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720072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720072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720072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97610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97610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97610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97610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97610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97610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97610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97610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97610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97610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97610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976104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976104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976104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76104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976104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976104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976104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76104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76104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76104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76104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76104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76104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76104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76104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23213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23213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23213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23213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23213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23213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3213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23213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23213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3213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23213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232136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232136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232136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232136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232136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232136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32136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232136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232136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232136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232136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232136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232136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232136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232136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48816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48816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48816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48816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48816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48816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48816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48816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48816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48816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48816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488168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488168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488168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488168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488168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488168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488168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488168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488168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88168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88168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88168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88168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88168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88168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74420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74420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74420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74420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74420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74420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74420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74420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74420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74420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74420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744200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744200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744200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744200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744200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744200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744200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744200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744200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744200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744200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744200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44200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744200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744200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000232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000232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000232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000232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000232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000232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000232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000232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000232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000232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000232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000232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000232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000232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000232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000232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1000232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1000232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1000232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1000232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000232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000232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000232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1000232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000232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000232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125626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125626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125626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125626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125626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125626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125626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125626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125626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125626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125626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1256264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1256264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1256264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1256264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1256264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256264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1256264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1256264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256264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1256264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1256264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1256264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1256264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1256264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1256264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151229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151229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151229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151229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151229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151229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151229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151229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151229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151229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151229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1512296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1512296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1512296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1512296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1512296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1512296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1512296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1512296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1512296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512296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512296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512296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512296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512296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512296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76832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76832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76832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76832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76832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76832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76832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76832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76832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76832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76832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768328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768328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768328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768328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768328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768328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768328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768328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768328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768328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768328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1768328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1768328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1768328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1768328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202436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202436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202436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202436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202436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202436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202436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202436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202436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202436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202436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2024360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2024360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2024360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2024360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2024360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2024360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2024360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2024360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2024360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2024360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2024360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2024360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2024360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2024360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2024360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21792" y="393192"/>
            <a:ext cx="23317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9" name="Text 367"/>
          <p:cNvSpPr/>
          <p:nvPr/>
        </p:nvSpPr>
        <p:spPr>
          <a:xfrm>
            <a:off x="731520" y="411480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NIIS HACKATHON 2026</a:t>
            </a:r>
            <a:endParaRPr lang="en-US" sz="1050" dirty="0"/>
          </a:p>
        </p:txBody>
      </p:sp>
      <p:sp>
        <p:nvSpPr>
          <p:cNvPr id="370" name="Text 368"/>
          <p:cNvSpPr/>
          <p:nvPr/>
        </p:nvSpPr>
        <p:spPr>
          <a:xfrm>
            <a:off x="621792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spc="-1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</a:t>
            </a:r>
            <a:endParaRPr lang="en-US" sz="5200" dirty="0"/>
          </a:p>
        </p:txBody>
      </p:sp>
      <p:sp>
        <p:nvSpPr>
          <p:cNvPr id="371" name="Text 369"/>
          <p:cNvSpPr/>
          <p:nvPr/>
        </p:nvSpPr>
        <p:spPr>
          <a:xfrm>
            <a:off x="621792" y="20665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spc="-1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</a:t>
            </a:r>
            <a:endParaRPr lang="en-US" sz="5200" dirty="0"/>
          </a:p>
        </p:txBody>
      </p:sp>
      <p:sp>
        <p:nvSpPr>
          <p:cNvPr id="372" name="Text 370"/>
          <p:cNvSpPr/>
          <p:nvPr/>
        </p:nvSpPr>
        <p:spPr>
          <a:xfrm>
            <a:off x="64008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spc="11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SCAN. EXPLAIN. PROTECT.</a:t>
            </a:r>
            <a:endParaRPr lang="en-US" sz="1900" dirty="0"/>
          </a:p>
        </p:txBody>
      </p:sp>
      <p:sp>
        <p:nvSpPr>
          <p:cNvPr id="373" name="Shape 371"/>
          <p:cNvSpPr/>
          <p:nvPr/>
        </p:nvSpPr>
        <p:spPr>
          <a:xfrm>
            <a:off x="640080" y="3611880"/>
            <a:ext cx="5532120" cy="0"/>
          </a:xfrm>
          <a:prstGeom prst="line">
            <a:avLst/>
          </a:prstGeom>
          <a:noFill/>
          <a:ln w="63500">
            <a:solidFill>
              <a:srgbClr val="E5242A"/>
            </a:solidFill>
            <a:prstDash val="solid"/>
            <a:headEnd type="none"/>
            <a:tailEnd type="none"/>
          </a:ln>
        </p:spPr>
      </p:sp>
      <p:sp>
        <p:nvSpPr>
          <p:cNvPr id="374" name="Text 372"/>
          <p:cNvSpPr/>
          <p:nvPr/>
        </p:nvSpPr>
        <p:spPr>
          <a:xfrm>
            <a:off x="640080" y="38862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defensive threat analysis for suspicious URLs, emails, messages, QR codes, authentication activity, network indicators and email headers.</a:t>
            </a:r>
            <a:endParaRPr lang="en-US" sz="1600" dirty="0"/>
          </a:p>
        </p:txBody>
      </p:sp>
      <p:sp>
        <p:nvSpPr>
          <p:cNvPr id="375" name="Shape 373"/>
          <p:cNvSpPr/>
          <p:nvPr/>
        </p:nvSpPr>
        <p:spPr>
          <a:xfrm>
            <a:off x="9372600" y="1965960"/>
            <a:ext cx="1737360" cy="1737360"/>
          </a:xfrm>
          <a:prstGeom prst="rect">
            <a:avLst/>
          </a:prstGeom>
          <a:solidFill>
            <a:srgbClr val="F6C623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0259568" y="2788920"/>
            <a:ext cx="1417320" cy="1417320"/>
          </a:xfrm>
          <a:prstGeom prst="ellipse">
            <a:avLst/>
          </a:prstGeom>
          <a:solidFill>
            <a:srgbClr val="E5242A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8961120" y="4892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78" name="Shape 376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9" name="Shape 37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621792" y="6519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CYBERGUARD</a:t>
            </a:r>
            <a:endParaRPr lang="en-US" sz="1000" dirty="0"/>
          </a:p>
        </p:txBody>
      </p:sp>
      <p:sp>
        <p:nvSpPr>
          <p:cNvPr id="381" name="Text 379"/>
          <p:cNvSpPr/>
          <p:nvPr/>
        </p:nvSpPr>
        <p:spPr>
          <a:xfrm>
            <a:off x="3383280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SCAN. EXPLAIN. PROTECT.</a:t>
            </a:r>
            <a:endParaRPr lang="en-US" sz="1000" dirty="0"/>
          </a:p>
        </p:txBody>
      </p:sp>
      <p:sp>
        <p:nvSpPr>
          <p:cNvPr id="382" name="Shape 38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384048"/>
            <a:ext cx="1627632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0233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// THE PROBLEM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E524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GAP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suspicious message can be technically detectable and still leave the person asking: “Why is this risky, and what should I do now?”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0" y="0"/>
            <a:ext cx="3959352" cy="370332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75904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75904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75904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5904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75904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75904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5904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75904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1936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31936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31936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31936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31936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31936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31936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31936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31936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31936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31936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31936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31936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31936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87968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87968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87968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87968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87968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87968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87968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87968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87968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87968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87968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87968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87968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87968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0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0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0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0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00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44000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0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0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4000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0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00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0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0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0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400032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00032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00032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00032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00032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00032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00032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00032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00032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00032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00032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00032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400032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00032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56064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56064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656064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56064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56064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56064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656064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56064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56064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56064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656064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56064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656064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656064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912096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912096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912096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12096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12096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12096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12096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12096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12096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912096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096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12096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12096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12096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168128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68128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168128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168128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168128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168128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168128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168128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168128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168128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168128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168128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168128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168128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424160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424160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424160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424160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24160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424160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424160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424160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24160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424160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424160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424160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424160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424160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680192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680192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80192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680192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80192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80192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680192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80192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680192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680192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680192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680192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680192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680192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936224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936224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936224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936224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936224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936224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936224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936224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936224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36224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936224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36224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936224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936224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1192256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192256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192256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192256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192256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1192256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192256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192256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192256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192256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192256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192256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192256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192256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448288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448288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448288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448288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448288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448288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448288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448288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448288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448288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448288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448288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448288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448288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704320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704320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1704320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1704320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1704320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1704320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1704320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1704320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1704320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1704320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1704320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1704320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1704320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1704320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1960352" y="14630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960352" y="40233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1960352" y="65836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960352" y="91440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1960352" y="117043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1960352" y="142646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1960352" y="168249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1960352" y="193852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960352" y="219456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960352" y="2450592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960352" y="2706624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1960352" y="2962656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960352" y="3218688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960352" y="3474720"/>
            <a:ext cx="36576" cy="36576"/>
          </a:xfrm>
          <a:prstGeom prst="ellipse">
            <a:avLst/>
          </a:prstGeom>
          <a:solidFill>
            <a:srgbClr val="FFFFFF">
              <a:alpha val="450"/>
            </a:srgbClr>
          </a:solidFill>
          <a:ln w="12700">
            <a:solidFill>
              <a:srgbClr val="FFFFFF">
                <a:alpha val="45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814816" y="832104"/>
            <a:ext cx="2852928" cy="2148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59952" y="758952"/>
            <a:ext cx="2852928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979408" y="102412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</a:t>
            </a:r>
            <a:endParaRPr lang="en-US" sz="2100" dirty="0"/>
          </a:p>
        </p:txBody>
      </p:sp>
      <p:sp>
        <p:nvSpPr>
          <p:cNvPr id="223" name="Text 221"/>
          <p:cNvSpPr/>
          <p:nvPr/>
        </p:nvSpPr>
        <p:spPr>
          <a:xfrm>
            <a:off x="9070848" y="17373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“Your account will 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today. Verify now.”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9345168" y="2542032"/>
            <a:ext cx="1673352" cy="329184"/>
          </a:xfrm>
          <a:prstGeom prst="rect">
            <a:avLst/>
          </a:prstGeom>
          <a:solidFill>
            <a:srgbClr val="F6C623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9454896" y="26060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NEXT?</a:t>
            </a:r>
            <a:endParaRPr lang="en-US" sz="1000" dirty="0"/>
          </a:p>
        </p:txBody>
      </p:sp>
      <p:sp>
        <p:nvSpPr>
          <p:cNvPr id="226" name="Shape 224"/>
          <p:cNvSpPr/>
          <p:nvPr/>
        </p:nvSpPr>
        <p:spPr>
          <a:xfrm>
            <a:off x="0" y="3703320"/>
            <a:ext cx="4059936" cy="2532888"/>
          </a:xfrm>
          <a:prstGeom prst="rect">
            <a:avLst/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11480" y="3986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228" name="Text 226"/>
          <p:cNvSpPr/>
          <p:nvPr/>
        </p:nvSpPr>
        <p:spPr>
          <a:xfrm>
            <a:off x="896112" y="396849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5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TIMING-BASED FRAUD</a:t>
            </a:r>
            <a:endParaRPr lang="en-US" sz="1400" dirty="0"/>
          </a:p>
        </p:txBody>
      </p:sp>
      <p:sp>
        <p:nvSpPr>
          <p:cNvPr id="229" name="Text 227"/>
          <p:cNvSpPr/>
          <p:nvPr/>
        </p:nvSpPr>
        <p:spPr>
          <a:xfrm>
            <a:off x="438912" y="4471416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use urgency: exam fees, account warnings, job offers and payment requests.</a:t>
            </a:r>
            <a:endParaRPr lang="en-US" sz="1230" dirty="0"/>
          </a:p>
        </p:txBody>
      </p:sp>
      <p:sp>
        <p:nvSpPr>
          <p:cNvPr id="230" name="Shape 228"/>
          <p:cNvSpPr/>
          <p:nvPr/>
        </p:nvSpPr>
        <p:spPr>
          <a:xfrm>
            <a:off x="4059936" y="3703320"/>
            <a:ext cx="4059936" cy="2532888"/>
          </a:xfrm>
          <a:prstGeom prst="rect">
            <a:avLst/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4471416" y="3986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232" name="Text 230"/>
          <p:cNvSpPr/>
          <p:nvPr/>
        </p:nvSpPr>
        <p:spPr>
          <a:xfrm>
            <a:off x="4956048" y="396849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5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MULTI-CHANNEL ATTACKS</a:t>
            </a:r>
            <a:endParaRPr lang="en-US" sz="1400" dirty="0"/>
          </a:p>
        </p:txBody>
      </p:sp>
      <p:sp>
        <p:nvSpPr>
          <p:cNvPr id="233" name="Text 231"/>
          <p:cNvSpPr/>
          <p:nvPr/>
        </p:nvSpPr>
        <p:spPr>
          <a:xfrm>
            <a:off x="4498848" y="4471416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social-engineering tactic can arrive through email, SMS, QR codes or links.</a:t>
            </a:r>
            <a:endParaRPr lang="en-US" sz="1230" dirty="0"/>
          </a:p>
        </p:txBody>
      </p:sp>
      <p:sp>
        <p:nvSpPr>
          <p:cNvPr id="234" name="Shape 232"/>
          <p:cNvSpPr/>
          <p:nvPr/>
        </p:nvSpPr>
        <p:spPr>
          <a:xfrm>
            <a:off x="8119872" y="3703320"/>
            <a:ext cx="4059936" cy="2532888"/>
          </a:xfrm>
          <a:prstGeom prst="rect">
            <a:avLst/>
          </a:prstGeom>
          <a:solidFill>
            <a:srgbClr val="F6C623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8531352" y="3986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236" name="Text 234"/>
          <p:cNvSpPr/>
          <p:nvPr/>
        </p:nvSpPr>
        <p:spPr>
          <a:xfrm>
            <a:off x="9015984" y="396849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5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EXPLANATION GAP</a:t>
            </a:r>
            <a:endParaRPr lang="en-US" sz="1400" dirty="0"/>
          </a:p>
        </p:txBody>
      </p:sp>
      <p:sp>
        <p:nvSpPr>
          <p:cNvPr id="237" name="Text 235"/>
          <p:cNvSpPr/>
          <p:nvPr/>
        </p:nvSpPr>
        <p:spPr>
          <a:xfrm>
            <a:off x="8558784" y="4471416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warning can say “suspicious.” The user still needs evidence and a clear next action.</a:t>
            </a:r>
            <a:endParaRPr lang="en-US" sz="1230" dirty="0"/>
          </a:p>
        </p:txBody>
      </p:sp>
      <p:sp>
        <p:nvSpPr>
          <p:cNvPr id="238" name="Shape 236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621792" y="6519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41" name="Text 239"/>
          <p:cNvSpPr/>
          <p:nvPr/>
        </p:nvSpPr>
        <p:spPr>
          <a:xfrm>
            <a:off x="3383280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DETECTING A THREAT IS ONLY PART OF THE JOB.</a:t>
            </a:r>
            <a:endParaRPr lang="en-US" sz="1000" dirty="0"/>
          </a:p>
        </p:txBody>
      </p:sp>
      <p:sp>
        <p:nvSpPr>
          <p:cNvPr id="242" name="Shape 24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242A"/>
          </a:solidFill>
          <a:ln w="12700">
            <a:solidFill>
              <a:srgbClr val="E5242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384048"/>
            <a:ext cx="21396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02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// INVESTIGATION 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8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DETECTION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-12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2697480"/>
            <a:ext cx="690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workflow turns suspicious digital evidence into a defensible decision: detect it, show why, explain it and recommend the next step.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10744200" cy="1892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703320"/>
            <a:ext cx="10744200" cy="189280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4553712"/>
            <a:ext cx="91440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051560" y="3858768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14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681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681728"/>
            <a:ext cx="173736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50657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suspicious indicators.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3630168" y="3858768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4014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93008" y="4681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93008" y="4681728"/>
            <a:ext cx="173736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50657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exactly what triggered the finding.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08776" y="3858768"/>
            <a:ext cx="658368" cy="658368"/>
          </a:xfrm>
          <a:prstGeom prst="rect">
            <a:avLst/>
          </a:prstGeom>
          <a:solidFill>
            <a:srgbClr val="F6C623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4014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71616" y="4681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71616" y="4681728"/>
            <a:ext cx="173736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50657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turns findings into readable reasoning.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787384" y="3858768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87384" y="4014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50224" y="4681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50224" y="4681728"/>
            <a:ext cx="173736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50657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the appropriate next action.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549640" y="1417320"/>
            <a:ext cx="2724912" cy="640080"/>
          </a:xfrm>
          <a:prstGeom prst="rect">
            <a:avLst/>
          </a:prstGeom>
          <a:solidFill>
            <a:srgbClr val="2457D6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3" name="Text 31">
            <a:hlinkClick r:id="rId1" tooltip="Open CYBERGUARD web app"/>
          </p:cNvPr>
          <p:cNvSpPr/>
          <p:nvPr/>
        </p:nvSpPr>
        <p:spPr>
          <a:xfrm>
            <a:off x="8759952" y="154533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u="sng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CYBERGUARD web 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  →</a:t>
            </a:r>
            <a:endParaRPr lang="en-US" sz="1800" dirty="0"/>
          </a:p>
        </p:txBody>
      </p:sp>
      <p:sp>
        <p:nvSpPr>
          <p:cNvPr id="34" name="Text 32">
            <a:hlinkClick r:id="rId2" tooltip=""/>
          </p:cNvPr>
          <p:cNvSpPr/>
          <p:nvPr/>
        </p:nvSpPr>
        <p:spPr>
          <a:xfrm>
            <a:off x="8613648" y="21488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u="sng" spc="50" kern="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http://localhost:5173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8549640" y="2450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i="1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this hyperlink with your deployed URL before the final presentation.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6519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FLOW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DEMO: CLICK THE BUTTON TO OPEN CYBERGUARD.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242A"/>
          </a:solidFill>
          <a:ln w="12700">
            <a:solidFill>
              <a:srgbClr val="E524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384048"/>
            <a:ext cx="2578608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0233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// WHAT CYBERGUARD ANALYZES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-7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1408176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spc="-7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DIGITAL VECTORS.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658368" y="2121408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inputs. One investigation workflow. The result is expressed as risk, evidence, explanation and action.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3136392"/>
            <a:ext cx="50749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063240"/>
            <a:ext cx="5074920" cy="566928"/>
          </a:xfrm>
          <a:prstGeom prst="rect">
            <a:avLst/>
          </a:prstGeom>
          <a:solidFill>
            <a:srgbClr val="DDE7FF"/>
          </a:solidFill>
          <a:ln w="254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7296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16736" y="315468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15768" y="3136392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links</a:t>
            </a:r>
            <a:endParaRPr lang="en-US" sz="990" dirty="0"/>
          </a:p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domain structure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713232" y="3840480"/>
            <a:ext cx="50749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767328"/>
            <a:ext cx="50749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7705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6736" y="385876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15768" y="3840480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Sender, content</a:t>
            </a:r>
            <a:endParaRPr lang="en-US" sz="990" dirty="0"/>
          </a:p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phishing indicators</a:t>
            </a:r>
            <a:endParaRPr lang="en-US" sz="990" dirty="0"/>
          </a:p>
        </p:txBody>
      </p:sp>
      <p:sp>
        <p:nvSpPr>
          <p:cNvPr id="19" name="Shape 17"/>
          <p:cNvSpPr/>
          <p:nvPr/>
        </p:nvSpPr>
        <p:spPr>
          <a:xfrm>
            <a:off x="713232" y="4544568"/>
            <a:ext cx="50749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471416"/>
            <a:ext cx="50749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81144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16736" y="45628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/ MESSAGE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15768" y="4544568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Social-engineering</a:t>
            </a:r>
            <a:endParaRPr lang="en-US" sz="990" dirty="0"/>
          </a:p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and links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713232" y="5248656"/>
            <a:ext cx="50749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175504"/>
            <a:ext cx="50749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8523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16736" y="526694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15768" y="5248656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and analyze</a:t>
            </a:r>
            <a:endParaRPr lang="en-US" sz="990" dirty="0"/>
          </a:p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encoded destinations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6227064" y="3136392"/>
            <a:ext cx="50749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063240"/>
            <a:ext cx="50749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317296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30568" y="315468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LOGS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3136392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</a:t>
            </a:r>
            <a:endParaRPr lang="en-US" sz="990" dirty="0"/>
          </a:p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activity</a:t>
            </a:r>
            <a:endParaRPr lang="en-US" sz="990" dirty="0"/>
          </a:p>
        </p:txBody>
      </p:sp>
      <p:sp>
        <p:nvSpPr>
          <p:cNvPr id="34" name="Shape 32"/>
          <p:cNvSpPr/>
          <p:nvPr/>
        </p:nvSpPr>
        <p:spPr>
          <a:xfrm>
            <a:off x="6227064" y="3840480"/>
            <a:ext cx="50749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767328"/>
            <a:ext cx="50749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387705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30568" y="385876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3840480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network</a:t>
            </a:r>
            <a:endParaRPr lang="en-US" sz="990" dirty="0"/>
          </a:p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and indicators</a:t>
            </a:r>
            <a:endParaRPr lang="en-US" sz="990" dirty="0"/>
          </a:p>
        </p:txBody>
      </p:sp>
      <p:sp>
        <p:nvSpPr>
          <p:cNvPr id="39" name="Shape 37"/>
          <p:cNvSpPr/>
          <p:nvPr/>
        </p:nvSpPr>
        <p:spPr>
          <a:xfrm>
            <a:off x="6227064" y="4544568"/>
            <a:ext cx="50749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4471416"/>
            <a:ext cx="50749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4581144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0568" y="45628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0" y="4544568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email-header</a:t>
            </a:r>
            <a:endParaRPr lang="en-US" sz="990" dirty="0"/>
          </a:p>
          <a:p>
            <a:pPr algn="l" indent="0" marL="0">
              <a:buNone/>
            </a:pPr>
            <a:r>
              <a:rPr lang="en-US" sz="99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</a:t>
            </a:r>
            <a:endParaRPr lang="en-US" sz="990" dirty="0"/>
          </a:p>
        </p:txBody>
      </p:sp>
      <p:sp>
        <p:nvSpPr>
          <p:cNvPr id="44" name="Shape 42"/>
          <p:cNvSpPr/>
          <p:nvPr/>
        </p:nvSpPr>
        <p:spPr>
          <a:xfrm>
            <a:off x="8275320" y="0"/>
            <a:ext cx="3913632" cy="2907792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2162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2162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2162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2162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2162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2162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2162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2162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2162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2162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2162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7765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7765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7765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7765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7765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7765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7765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7765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7765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7765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7765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3368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3368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3368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3368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3368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3368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3368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93368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3368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3368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93368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8972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8972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8972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8972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8972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8972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8972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8972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8972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8972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18972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45752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45752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45752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445752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445752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45752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445752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45752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445752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45752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45752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70178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0178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70178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0178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70178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0178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0178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70178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70178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70178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70178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5781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5781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95781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95781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95781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95781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95781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95781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95781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95781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95781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21384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21384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1384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21384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21384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21384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21384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21384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21384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21384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21384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46988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46988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46988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46988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46988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46988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46988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46988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46988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6988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46988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725912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725912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725912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725912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725912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725912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725912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725912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725912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725912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725912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98194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98194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98194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98194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8194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98194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8194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98194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98194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98194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98194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23797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23797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23797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123797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3797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23797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3797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3797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3797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3797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3797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49400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49400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49400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49400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49400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49400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49400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49400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49400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49400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49400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75004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75004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75004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75004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75004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75004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175004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175004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175004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175004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175004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2006072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2006072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2006072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2006072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2006072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2006072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2006072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2006072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2006072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2006072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2006072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8732520" y="67665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RESULT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2400" dirty="0"/>
          </a:p>
        </p:txBody>
      </p:sp>
      <p:sp>
        <p:nvSpPr>
          <p:cNvPr id="211" name="Text 209"/>
          <p:cNvSpPr/>
          <p:nvPr/>
        </p:nvSpPr>
        <p:spPr>
          <a:xfrm>
            <a:off x="877824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200" dirty="0"/>
          </a:p>
        </p:txBody>
      </p:sp>
      <p:sp>
        <p:nvSpPr>
          <p:cNvPr id="212" name="Text 210"/>
          <p:cNvSpPr/>
          <p:nvPr/>
        </p:nvSpPr>
        <p:spPr>
          <a:xfrm>
            <a:off x="9665208" y="1572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13" name="Text 211"/>
          <p:cNvSpPr/>
          <p:nvPr/>
        </p:nvSpPr>
        <p:spPr>
          <a:xfrm>
            <a:off x="8823960" y="1956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</a:t>
            </a:r>
            <a:endParaRPr lang="en-US" sz="1200" dirty="0"/>
          </a:p>
        </p:txBody>
      </p:sp>
      <p:sp>
        <p:nvSpPr>
          <p:cNvPr id="214" name="Text 212"/>
          <p:cNvSpPr/>
          <p:nvPr/>
        </p:nvSpPr>
        <p:spPr>
          <a:xfrm>
            <a:off x="9738360" y="1956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1200" dirty="0"/>
          </a:p>
        </p:txBody>
      </p:sp>
      <p:sp>
        <p:nvSpPr>
          <p:cNvPr id="215" name="Shape 21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6" name="Shape 2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621792" y="6519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SCOPE</a:t>
            </a:r>
            <a:endParaRPr lang="en-US" sz="1000" dirty="0"/>
          </a:p>
        </p:txBody>
      </p:sp>
      <p:sp>
        <p:nvSpPr>
          <p:cNvPr id="218" name="Text 216"/>
          <p:cNvSpPr/>
          <p:nvPr/>
        </p:nvSpPr>
        <p:spPr>
          <a:xfrm>
            <a:off x="3383280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MULTI-VECTOR INPUTS · ONE DEFENSIVE WORKFLOW.</a:t>
            </a:r>
            <a:endParaRPr lang="en-US" sz="1000" dirty="0"/>
          </a:p>
        </p:txBody>
      </p:sp>
      <p:sp>
        <p:nvSpPr>
          <p:cNvPr id="219" name="Shape 2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384048"/>
            <a:ext cx="2432304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02336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// TECHNICAL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1453896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8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ENGINE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58368" y="2176272"/>
            <a:ext cx="6172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deterministic checks handle clear signals; machine learning supports pattern classification; AI is used for explanation of detected evidence.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" y="3127248"/>
            <a:ext cx="6172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95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1408" y="319125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/ EMAIL / SMS / QR / LOG / NETWORK / HEADER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3584448" y="34838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3630168"/>
            <a:ext cx="6172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124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1408" y="369417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and standardize the submitted evidence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3584448" y="39867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4133088"/>
            <a:ext cx="6172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15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+ 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21408" y="419709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Heuristics + local classifier produce risk signals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3584448" y="44897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4636008"/>
            <a:ext cx="6172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183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21408" y="470001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signals into a 0–100 score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3584448" y="49926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5138928"/>
            <a:ext cx="6172200" cy="384048"/>
          </a:xfrm>
          <a:prstGeom prst="rect">
            <a:avLst/>
          </a:prstGeom>
          <a:solidFill>
            <a:srgbClr val="DDE7FF"/>
          </a:solidFill>
          <a:ln w="15240">
            <a:solidFill>
              <a:srgbClr val="245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212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EXPLAIN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21408" y="520293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explains only the detected evidence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3584448" y="54955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5641848"/>
            <a:ext cx="6172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7241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21408" y="570585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next step + report / history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9866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9866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9866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9866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9866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9866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9866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9866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9866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9866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9866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9866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9866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9866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9866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9866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9866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9866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9866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9866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9866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9866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9866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7298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7298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7298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7298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7298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7298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7298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7298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7298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7298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7298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7298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7298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7298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7298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7298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7298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7298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7298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7298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7298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7298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7298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7298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7298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4730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4730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4730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4730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14730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4730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4730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4730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4730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14730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4730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4730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4730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4730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4730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4730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14730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14730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4730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4730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4730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14730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4730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14730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14730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42162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2162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2162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42162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2162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2162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42162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2162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2162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42162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42162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42162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2162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42162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42162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42162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42162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42162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42162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42162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42162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42162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42162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42162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2162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9594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9594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9594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9594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9594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9594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9594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9594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9594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69594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69594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69594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69594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69594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69594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69594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69594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69594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69594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69594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69594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9594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69594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69594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9594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97026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97026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97026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97026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97026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97026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97026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97026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97026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97026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97026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97026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97026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97026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97026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97026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7026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97026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97026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97026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97026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97026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97026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97026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7026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24458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24458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24458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24458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24458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24458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24458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24458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24458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24458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24458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24458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24458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24458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24458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24458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24458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24458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24458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24458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24458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24458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24458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24458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24458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51890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51890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51890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51890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51890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1890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51890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51890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51890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51890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51890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51890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51890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51890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51890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51890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51890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51890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51890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51890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51890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51890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51890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51890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51890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79322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79322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79322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79322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79322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79322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79322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9322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79322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79322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79322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79322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79322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79322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79322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79322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79322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79322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79322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79322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79322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79322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79322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9322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79322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06754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06754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06754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06754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06754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06754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06754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06754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06754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06754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06754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06754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06754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06754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06754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06754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06754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06754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06754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06754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06754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06754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006754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006754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06754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34186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34186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34186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34186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34186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34186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34186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34186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34186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34186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34186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34186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34186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34186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34186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34186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34186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34186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34186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34186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34186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34186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34186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34186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34186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61618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61618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61618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61618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61618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61618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61618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61618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61618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61618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61618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1618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1618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61618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61618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61618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61618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61618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61618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061618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061618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061618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061618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061618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061618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089050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089050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089050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089050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089050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089050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089050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089050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089050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089050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089050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089050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089050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89050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89050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89050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89050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89050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89050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89050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89050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89050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89050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89050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089050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116482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116482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116482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116482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116482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116482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116482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116482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116482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116482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116482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1116482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116482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116482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1116482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1116482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116482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1116482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116482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1116482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1116482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1116482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116482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1116482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1116482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1143914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1143914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1143914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1143914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1143914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1143914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1143914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1143914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1143914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143914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1143914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1143914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1143914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1143914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1143914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1143914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1143914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1143914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1143914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1143914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1143914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1143914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1143914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1143914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1143914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1171346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1171346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1171346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1171346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1171346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1171346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1171346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1171346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1171346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1171346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1171346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1171346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1171346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171346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171346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1171346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171346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1171346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1171346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1171346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1171346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1171346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1171346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1171346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1171346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11987784" y="1463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11987784" y="4206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11987784" y="6949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11987784" y="9692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11987784" y="12435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11987784" y="15179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11987784" y="17922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11987784" y="20665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11987784" y="23408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1987784" y="26151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11987784" y="28895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11987784" y="31638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1987784" y="34381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11987784" y="37124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11987784" y="39867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1987784" y="42611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11987784" y="45354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11987784" y="48097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11987784" y="50840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11987784" y="53583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11987784" y="563270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11987784" y="590702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1987784" y="618134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1987784" y="645566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11987784" y="6729984"/>
            <a:ext cx="36576" cy="36576"/>
          </a:xfrm>
          <a:prstGeom prst="ellipse">
            <a:avLst/>
          </a:prstGeom>
          <a:solidFill>
            <a:srgbClr val="FFFFFF">
              <a:alpha val="480"/>
            </a:srgbClr>
          </a:solidFill>
          <a:ln w="12700">
            <a:solidFill>
              <a:srgbClr val="FFFFFF">
                <a:alpha val="48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7991856" y="1170432"/>
            <a:ext cx="3703320" cy="44988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7936992" y="1097280"/>
            <a:ext cx="3703320" cy="449884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460" name="Text 458"/>
          <p:cNvSpPr/>
          <p:nvPr/>
        </p:nvSpPr>
        <p:spPr>
          <a:xfrm>
            <a:off x="8275320" y="1426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OF TRUTH</a:t>
            </a:r>
            <a:endParaRPr lang="en-US" sz="1300" dirty="0"/>
          </a:p>
        </p:txBody>
      </p:sp>
      <p:sp>
        <p:nvSpPr>
          <p:cNvPr id="461" name="Shape 459"/>
          <p:cNvSpPr/>
          <p:nvPr/>
        </p:nvSpPr>
        <p:spPr>
          <a:xfrm>
            <a:off x="8275320" y="1801368"/>
            <a:ext cx="2788920" cy="0"/>
          </a:xfrm>
          <a:prstGeom prst="line">
            <a:avLst/>
          </a:prstGeom>
          <a:noFill/>
          <a:ln w="1651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62" name="Text 460"/>
          <p:cNvSpPr/>
          <p:nvPr/>
        </p:nvSpPr>
        <p:spPr>
          <a:xfrm>
            <a:off x="8275320" y="2212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463" name="Text 461"/>
          <p:cNvSpPr/>
          <p:nvPr/>
        </p:nvSpPr>
        <p:spPr>
          <a:xfrm>
            <a:off x="827532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/ normalization / scoring</a:t>
            </a:r>
            <a:endParaRPr lang="en-US" sz="1100" dirty="0"/>
          </a:p>
        </p:txBody>
      </p:sp>
      <p:sp>
        <p:nvSpPr>
          <p:cNvPr id="464" name="Text 462"/>
          <p:cNvSpPr/>
          <p:nvPr/>
        </p:nvSpPr>
        <p:spPr>
          <a:xfrm>
            <a:off x="8275320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200" dirty="0"/>
          </a:p>
        </p:txBody>
      </p:sp>
      <p:sp>
        <p:nvSpPr>
          <p:cNvPr id="465" name="Text 463"/>
          <p:cNvSpPr/>
          <p:nvPr/>
        </p:nvSpPr>
        <p:spPr>
          <a:xfrm>
            <a:off x="82753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ML classifier</a:t>
            </a:r>
            <a:endParaRPr lang="en-US" sz="1100" dirty="0"/>
          </a:p>
        </p:txBody>
      </p:sp>
      <p:sp>
        <p:nvSpPr>
          <p:cNvPr id="466" name="Text 464"/>
          <p:cNvSpPr/>
          <p:nvPr/>
        </p:nvSpPr>
        <p:spPr>
          <a:xfrm>
            <a:off x="8275320" y="3858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467" name="Text 465"/>
          <p:cNvSpPr/>
          <p:nvPr/>
        </p:nvSpPr>
        <p:spPr>
          <a:xfrm>
            <a:off x="827532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explanation only</a:t>
            </a:r>
            <a:endParaRPr lang="en-US" sz="1100" dirty="0"/>
          </a:p>
        </p:txBody>
      </p:sp>
      <p:sp>
        <p:nvSpPr>
          <p:cNvPr id="468" name="Shape 466"/>
          <p:cNvSpPr/>
          <p:nvPr/>
        </p:nvSpPr>
        <p:spPr>
          <a:xfrm>
            <a:off x="8275320" y="4736592"/>
            <a:ext cx="2770632" cy="502920"/>
          </a:xfrm>
          <a:prstGeom prst="rect">
            <a:avLst/>
          </a:prstGeom>
          <a:solidFill>
            <a:srgbClr val="F6C623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8430768" y="48920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“AI MAGIC” CLAIMS</a:t>
            </a:r>
            <a:endParaRPr lang="en-US" sz="1050" dirty="0"/>
          </a:p>
        </p:txBody>
      </p:sp>
      <p:sp>
        <p:nvSpPr>
          <p:cNvPr id="470" name="Shape 468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71" name="Shape 46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72" name="Text 470"/>
          <p:cNvSpPr/>
          <p:nvPr/>
        </p:nvSpPr>
        <p:spPr>
          <a:xfrm>
            <a:off x="621792" y="6519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473" name="Text 471"/>
          <p:cNvSpPr/>
          <p:nvPr/>
        </p:nvSpPr>
        <p:spPr>
          <a:xfrm>
            <a:off x="3383280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CHECKS → RISK → EVIDENCE → AI EXPLANATION.</a:t>
            </a:r>
            <a:endParaRPr lang="en-US" sz="1000" dirty="0"/>
          </a:p>
        </p:txBody>
      </p:sp>
      <p:sp>
        <p:nvSpPr>
          <p:cNvPr id="474" name="Shape 47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6C623"/>
          </a:solidFill>
          <a:ln w="12700">
            <a:solidFill>
              <a:srgbClr val="F6C623"/>
            </a:solidFill>
            <a:prstDash val="solid"/>
          </a:ln>
        </p:spPr>
      </p:sp>
      <p:sp>
        <p:nvSpPr>
          <p:cNvPr id="475" name="Text 473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384048"/>
            <a:ext cx="1993392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0233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// COMPARISON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spc="-10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-10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INVESTIGATION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13232" y="2404872"/>
            <a:ext cx="5230368" cy="3520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31720"/>
            <a:ext cx="5230368" cy="3520440"/>
          </a:xfrm>
          <a:prstGeom prst="rect">
            <a:avLst/>
          </a:prstGeom>
          <a:solidFill>
            <a:srgbClr val="E8E8E8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642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SECURITY 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2944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REPUTATION TOOLS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19472" y="2633472"/>
            <a:ext cx="67665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68833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50976" y="3374136"/>
            <a:ext cx="455371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2688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35608" y="3593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1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35608" y="38770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indicators, reputation and other security signals.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" y="4370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35608" y="4361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1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35608" y="46451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finding can answer “suspicious” without being the entire investigation.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2688" y="5138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35608" y="5129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1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VARIES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35608" y="5413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may still need to interpret signals and decide their next action.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91072" y="2404872"/>
            <a:ext cx="5266944" cy="3520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2331720"/>
            <a:ext cx="5266944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45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26426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570464" y="2633472"/>
            <a:ext cx="685800" cy="27432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16184" y="2688336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28816" y="3374136"/>
            <a:ext cx="4517136" cy="0"/>
          </a:xfrm>
          <a:prstGeom prst="line">
            <a:avLst/>
          </a:prstGeom>
          <a:noFill/>
          <a:ln w="15240">
            <a:solidFill>
              <a:srgbClr val="2457D6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6510528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13448" y="3593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1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MULTI-VECTOR ANALYSIS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13448" y="38770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URL, email, message, QR, headers, authentication and network inputs.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10528" y="4370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13448" y="4361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1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EVIDENCE-FIRST RESULT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13448" y="46451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which indicators contributed to the risk finding.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10528" y="5138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13448" y="5129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spc="1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+ RESPOND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13448" y="5413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findings into readable reasoning and a recommended next step.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67328" y="5742432"/>
            <a:ext cx="4617720" cy="402336"/>
          </a:xfrm>
          <a:prstGeom prst="rect">
            <a:avLst/>
          </a:prstGeom>
          <a:solidFill>
            <a:srgbClr val="F6C623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9352" y="5833872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REPLACEMENT — AN INVESTIGATION WORKFLOW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6519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DIFFERENTIATION IS THE WORKFLOW, NOT A CLAIM OF EXCLUSIVITY.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93192"/>
            <a:ext cx="178308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1216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spc="80" kern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5257800" cy="5760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76856"/>
            <a:ext cx="5257800" cy="5760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196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spc="-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SUSPICION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86384" y="2395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spc="-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ACTION.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59536" y="2788920"/>
            <a:ext cx="5084064" cy="73152"/>
          </a:xfrm>
          <a:prstGeom prst="rect">
            <a:avLst/>
          </a:prstGeom>
          <a:solidFill>
            <a:srgbClr val="F6C623"/>
          </a:solidFill>
          <a:ln w="12700">
            <a:solidFill>
              <a:srgbClr val="F6C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46120"/>
            <a:ext cx="6126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brings detection, evidence, AI explanation and response into one defensive workflow.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407408"/>
            <a:ext cx="2121408" cy="585216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3" name="Text 11">
            <a:hlinkClick r:id="rId1" tooltip="Open CYBERGUARD web app"/>
          </p:cNvPr>
          <p:cNvSpPr/>
          <p:nvPr/>
        </p:nvSpPr>
        <p:spPr>
          <a:xfrm>
            <a:off x="786384" y="45537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u="sng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CYBERGUARD web 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WEBSITE  →</a:t>
            </a:r>
            <a:endParaRPr lang="en-US" sz="140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658368" y="51389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u="sng" spc="50" kern="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http://localhost:5173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58368" y="54132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with deployed URL before presentation.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9594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9594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9594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9594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9594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9594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9594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9594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9594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9594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9594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95944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95944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95944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95944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95944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95944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95944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95944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95944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95944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95944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95944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95944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95944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5944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5197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5197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5197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5197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5197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5197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5197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5197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5197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5197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5197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51976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51976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51976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51976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51976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51976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51976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51976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51976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951976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51976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51976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51976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51976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51976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0800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0800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0800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0800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0800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0800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0800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20800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0800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0800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0800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08008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08008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08008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08008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08008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208008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08008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08008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208008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08008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208008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208008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208008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08008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08008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46404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6404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46404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6404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6404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6404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46404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6404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6404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404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6404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464040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464040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464040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464040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464040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64040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464040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464040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464040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64040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64040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464040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464040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464040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720072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0072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720072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720072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720072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720072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20072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720072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720072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720072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720072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720072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720072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720072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720072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720072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720072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720072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720072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20072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720072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720072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720072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720072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720072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720072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97610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7610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97610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97610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97610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7610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7610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7610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7610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7610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7610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76104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76104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76104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76104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976104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976104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976104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976104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976104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976104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976104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976104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976104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976104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976104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23213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23213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23213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23213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3213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23213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23213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23213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23213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23213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23213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232136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232136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232136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232136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232136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232136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232136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232136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232136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232136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232136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232136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232136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232136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232136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48816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48816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48816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48816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48816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48816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48816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8816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8816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8816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8816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88168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88168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88168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488168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88168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88168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88168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88168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488168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488168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488168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488168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488168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488168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488168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74420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74420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74420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74420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74420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74420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74420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74420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74420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74420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4420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744200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744200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744200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744200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744200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744200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744200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744200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744200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744200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744200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744200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0744200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0744200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744200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000232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000232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000232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1000232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1000232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1000232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1000232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000232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000232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000232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1000232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000232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000232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1000232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1000232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1000232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1000232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1000232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1000232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1000232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1000232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1000232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1000232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1000232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1000232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1000232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1256264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1256264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1256264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256264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1256264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1256264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256264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1256264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1256264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1256264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1256264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1256264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1256264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1256264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1256264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1256264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1256264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1256264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1256264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1256264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1256264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1256264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1256264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1256264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1256264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1256264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1512296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1512296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1512296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1512296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1512296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1512296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1512296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512296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512296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512296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512296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512296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512296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512296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512296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512296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512296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512296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512296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512296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512296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512296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512296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512296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512296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512296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768328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768328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768328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768328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768328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768328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768328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768328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768328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1768328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1768328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1768328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1768328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1768328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1768328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1768328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1768328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1768328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1768328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1768328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1768328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1768328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1768328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1768328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1768328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1768328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2024360" y="1463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2024360" y="40233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2024360" y="65836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2024360" y="91440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2024360" y="117043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2024360" y="142646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2024360" y="168249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2024360" y="193852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2024360" y="219456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2024360" y="245059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2024360" y="270662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2024360" y="296265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2024360" y="321868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2024360" y="347472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12024360" y="373075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2024360" y="398678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2024360" y="424281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12024360" y="449884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12024360" y="475488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2024360" y="501091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12024360" y="526694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2024360" y="5522976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12024360" y="5779008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12024360" y="6035040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12024360" y="6291072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2024360" y="6547104"/>
            <a:ext cx="36576" cy="36576"/>
          </a:xfrm>
          <a:prstGeom prst="ellipse">
            <a:avLst/>
          </a:prstGeom>
          <a:solidFill>
            <a:srgbClr val="FFFFFF">
              <a:alpha val="500"/>
            </a:srgbClr>
          </a:solidFill>
          <a:ln w="12700">
            <a:solidFill>
              <a:srgbClr val="FFFFFF">
                <a:alpha val="50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9034272" y="1170432"/>
            <a:ext cx="2697480" cy="8961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8979408" y="1097280"/>
            <a:ext cx="2697480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9171432" y="12527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</a:t>
            </a:r>
            <a:endParaRPr lang="en-US" sz="1500" dirty="0"/>
          </a:p>
        </p:txBody>
      </p:sp>
      <p:sp>
        <p:nvSpPr>
          <p:cNvPr id="384" name="Text 382"/>
          <p:cNvSpPr/>
          <p:nvPr/>
        </p:nvSpPr>
        <p:spPr>
          <a:xfrm>
            <a:off x="9171432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suspicious indicators.</a:t>
            </a:r>
            <a:endParaRPr lang="en-US" sz="1050" dirty="0"/>
          </a:p>
        </p:txBody>
      </p:sp>
      <p:sp>
        <p:nvSpPr>
          <p:cNvPr id="385" name="Shape 383"/>
          <p:cNvSpPr/>
          <p:nvPr/>
        </p:nvSpPr>
        <p:spPr>
          <a:xfrm>
            <a:off x="9034272" y="2414016"/>
            <a:ext cx="2697480" cy="8961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8979408" y="2340864"/>
            <a:ext cx="2697480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9171432" y="2496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</a:t>
            </a:r>
            <a:endParaRPr lang="en-US" sz="1500" dirty="0"/>
          </a:p>
        </p:txBody>
      </p:sp>
      <p:sp>
        <p:nvSpPr>
          <p:cNvPr id="388" name="Text 386"/>
          <p:cNvSpPr/>
          <p:nvPr/>
        </p:nvSpPr>
        <p:spPr>
          <a:xfrm>
            <a:off x="9171432" y="2798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evidence and reasoning.</a:t>
            </a:r>
            <a:endParaRPr lang="en-US" sz="1050" dirty="0"/>
          </a:p>
        </p:txBody>
      </p:sp>
      <p:sp>
        <p:nvSpPr>
          <p:cNvPr id="389" name="Shape 387"/>
          <p:cNvSpPr/>
          <p:nvPr/>
        </p:nvSpPr>
        <p:spPr>
          <a:xfrm>
            <a:off x="9034272" y="3657600"/>
            <a:ext cx="2697480" cy="8961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979408" y="3584448"/>
            <a:ext cx="2697480" cy="896112"/>
          </a:xfrm>
          <a:prstGeom prst="rect">
            <a:avLst/>
          </a:prstGeom>
          <a:solidFill>
            <a:srgbClr val="F6C623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91" name="Text 389"/>
          <p:cNvSpPr/>
          <p:nvPr/>
        </p:nvSpPr>
        <p:spPr>
          <a:xfrm>
            <a:off x="9171432" y="37398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1500" dirty="0"/>
          </a:p>
        </p:txBody>
      </p:sp>
      <p:sp>
        <p:nvSpPr>
          <p:cNvPr id="392" name="Text 390"/>
          <p:cNvSpPr/>
          <p:nvPr/>
        </p:nvSpPr>
        <p:spPr>
          <a:xfrm>
            <a:off x="9171432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user a clear next step.</a:t>
            </a:r>
            <a:endParaRPr lang="en-US" sz="1050" dirty="0"/>
          </a:p>
        </p:txBody>
      </p:sp>
      <p:sp>
        <p:nvSpPr>
          <p:cNvPr id="393" name="Text 391"/>
          <p:cNvSpPr/>
          <p:nvPr/>
        </p:nvSpPr>
        <p:spPr>
          <a:xfrm>
            <a:off x="8887968" y="53218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SCAN. EXPLAIN. PROTECT.</a:t>
            </a:r>
            <a:endParaRPr lang="en-US" sz="1300" dirty="0"/>
          </a:p>
        </p:txBody>
      </p:sp>
      <p:sp>
        <p:nvSpPr>
          <p:cNvPr id="394" name="Shape 392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95" name="Shape 39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96" name="Text 394"/>
          <p:cNvSpPr/>
          <p:nvPr/>
        </p:nvSpPr>
        <p:spPr>
          <a:xfrm>
            <a:off x="621792" y="6519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397" name="Text 395"/>
          <p:cNvSpPr/>
          <p:nvPr/>
        </p:nvSpPr>
        <p:spPr>
          <a:xfrm>
            <a:off x="3383280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CYBERGUARD · DEFENSIVE, EXPLAINABLE THREAT ANALYSIS.</a:t>
            </a:r>
            <a:endParaRPr lang="en-US" sz="1000" dirty="0"/>
          </a:p>
        </p:txBody>
      </p:sp>
      <p:sp>
        <p:nvSpPr>
          <p:cNvPr id="398" name="Shape 39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242A"/>
          </a:solidFill>
          <a:ln w="12700">
            <a:solidFill>
              <a:srgbClr val="E5242A"/>
            </a:solidFill>
            <a:prstDash val="solid"/>
          </a:ln>
        </p:spPr>
      </p:sp>
      <p:sp>
        <p:nvSpPr>
          <p:cNvPr id="399" name="Text 397"/>
          <p:cNvSpPr/>
          <p:nvPr/>
        </p:nvSpPr>
        <p:spPr>
          <a:xfrm>
            <a:off x="11475720" y="6455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spc="50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CYBERGUARD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CYBERGUARD — Scan. Explain. Protect.</dc:title>
  <dc:subject>CYBERGUARD Hackathon Pitch</dc:subject>
  <dc:creator>CYBERGUARD</dc:creator>
  <cp:lastModifiedBy>CYBERGUARD</cp:lastModifiedBy>
  <cp:revision>1</cp:revision>
  <dcterms:created xsi:type="dcterms:W3CDTF">2026-09-30T09:32:27Z</dcterms:created>
  <dcterms:modified xsi:type="dcterms:W3CDTF">2026-09-30T09:32:27Z</dcterms:modified>
</cp:coreProperties>
</file>